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tchy Mager" charset="1" panose="02000506000000020004"/>
      <p:regular r:id="rId18"/>
    </p:embeddedFont>
    <p:embeddedFont>
      <p:font typeface="Cormorant Garamond" charset="1" panose="000005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Bold" charset="1" panose="00000800000000000000"/>
      <p:regular r:id="rId21"/>
    </p:embeddedFont>
    <p:embeddedFont>
      <p:font typeface="Montserrat Medium" charset="1" panose="000006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VAHWTm4o6_g.mp4" Type="http://schemas.openxmlformats.org/officeDocument/2006/relationships/video"/><Relationship Id="rId5" Target="../media/VAHWTm4o6_g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57255"/>
            <a:ext cx="12135848" cy="387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3"/>
              </a:lnSpc>
            </a:pPr>
            <a:r>
              <a:rPr lang="en-US" sz="7573" spc="203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FUTURE CHALLENGES AND OPPORTUNITIES IN SHRM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83925"/>
            <a:ext cx="6662633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>
                <a:solidFill>
                  <a:srgbClr val="26031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Strategic Human Resources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808618"/>
            <a:ext cx="4051683" cy="203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Presented By,</a:t>
            </a:r>
          </a:p>
          <a:p>
            <a:pPr algn="ctr">
              <a:lnSpc>
                <a:spcPts val="3271"/>
              </a:lnSpc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Suraksha J Lekshmi</a:t>
            </a:r>
          </a:p>
          <a:p>
            <a:pPr algn="ctr">
              <a:lnSpc>
                <a:spcPts val="3271"/>
              </a:lnSpc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1125514049</a:t>
            </a:r>
          </a:p>
          <a:p>
            <a:pPr algn="ctr">
              <a:lnSpc>
                <a:spcPts val="3271"/>
              </a:lnSpc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MBA - NICHE, Kumaracoil</a:t>
            </a:r>
          </a:p>
          <a:p>
            <a:pPr algn="ctr">
              <a:lnSpc>
                <a:spcPts val="32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621" y="648590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43323" y="3497434"/>
            <a:ext cx="10201354" cy="513781"/>
            <a:chOff x="0" y="0"/>
            <a:chExt cx="2549163" cy="1283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9163" cy="128386"/>
            </a:xfrm>
            <a:custGeom>
              <a:avLst/>
              <a:gdLst/>
              <a:ahLst/>
              <a:cxnLst/>
              <a:rect r="r" b="b" t="t" l="l"/>
              <a:pathLst>
                <a:path h="128386" w="2549163">
                  <a:moveTo>
                    <a:pt x="0" y="0"/>
                  </a:moveTo>
                  <a:lnTo>
                    <a:pt x="2549163" y="0"/>
                  </a:lnTo>
                  <a:lnTo>
                    <a:pt x="2549163" y="128386"/>
                  </a:lnTo>
                  <a:lnTo>
                    <a:pt x="0" y="128386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9163" cy="166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705900" y="1722832"/>
            <a:ext cx="1250727" cy="1250727"/>
          </a:xfrm>
          <a:custGeom>
            <a:avLst/>
            <a:gdLst/>
            <a:ahLst/>
            <a:cxnLst/>
            <a:rect r="r" b="b" t="t" l="l"/>
            <a:pathLst>
              <a:path h="1250727" w="1250727">
                <a:moveTo>
                  <a:pt x="0" y="0"/>
                </a:moveTo>
                <a:lnTo>
                  <a:pt x="1250727" y="0"/>
                </a:lnTo>
                <a:lnTo>
                  <a:pt x="1250727" y="1250727"/>
                </a:lnTo>
                <a:lnTo>
                  <a:pt x="0" y="125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73372" y="4303180"/>
            <a:ext cx="6831005" cy="404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03"/>
              </a:lnSpc>
            </a:pPr>
            <a:r>
              <a:rPr lang="en-US" sz="2537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01. What is SHRM?</a:t>
            </a:r>
          </a:p>
          <a:p>
            <a:pPr algn="just">
              <a:lnSpc>
                <a:spcPts val="5403"/>
              </a:lnSpc>
            </a:pPr>
            <a:r>
              <a:rPr lang="en-US" sz="2537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02. SHRM Connects</a:t>
            </a:r>
          </a:p>
          <a:p>
            <a:pPr algn="just">
              <a:lnSpc>
                <a:spcPts val="5403"/>
              </a:lnSpc>
            </a:pPr>
            <a:r>
              <a:rPr lang="en-US" sz="2537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03. Future Challenges</a:t>
            </a:r>
          </a:p>
          <a:p>
            <a:pPr algn="just">
              <a:lnSpc>
                <a:spcPts val="5403"/>
              </a:lnSpc>
            </a:pPr>
            <a:r>
              <a:rPr lang="en-US" sz="2537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04. Future Opportunities</a:t>
            </a:r>
          </a:p>
          <a:p>
            <a:pPr algn="just">
              <a:lnSpc>
                <a:spcPts val="5403"/>
              </a:lnSpc>
            </a:pPr>
            <a:r>
              <a:rPr lang="en-US" sz="2537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05. Challenges Vs Opportunities</a:t>
            </a:r>
          </a:p>
          <a:p>
            <a:pPr algn="just" marL="0" indent="0" lvl="0">
              <a:lnSpc>
                <a:spcPts val="5403"/>
              </a:lnSpc>
            </a:pPr>
            <a:r>
              <a:rPr lang="en-US" sz="2537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06. Conclusions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80814" y="1897182"/>
            <a:ext cx="9326371" cy="122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sz="9300" spc="5115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AGENDA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1263" y="3672280"/>
            <a:ext cx="9619726" cy="20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625" spc="38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20621" y="4312705"/>
            <a:ext cx="1496223" cy="397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2"/>
              </a:lnSpc>
            </a:pPr>
            <a:r>
              <a:rPr lang="en-US" sz="2531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1 - 2</a:t>
            </a:r>
          </a:p>
          <a:p>
            <a:pPr algn="l">
              <a:lnSpc>
                <a:spcPts val="5392"/>
              </a:lnSpc>
            </a:pPr>
            <a:r>
              <a:rPr lang="en-US" sz="2531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3 - 4</a:t>
            </a:r>
          </a:p>
          <a:p>
            <a:pPr algn="l">
              <a:lnSpc>
                <a:spcPts val="5392"/>
              </a:lnSpc>
            </a:pPr>
            <a:r>
              <a:rPr lang="en-US" sz="2531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5 - 6</a:t>
            </a:r>
          </a:p>
          <a:p>
            <a:pPr algn="l">
              <a:lnSpc>
                <a:spcPts val="5392"/>
              </a:lnSpc>
            </a:pPr>
            <a:r>
              <a:rPr lang="en-US" sz="2531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7 - 8</a:t>
            </a:r>
          </a:p>
          <a:p>
            <a:pPr algn="l">
              <a:lnSpc>
                <a:spcPts val="5392"/>
              </a:lnSpc>
            </a:pPr>
            <a:r>
              <a:rPr lang="en-US" sz="2531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9 -10</a:t>
            </a:r>
          </a:p>
          <a:p>
            <a:pPr algn="l" marL="0" indent="0" lvl="0">
              <a:lnSpc>
                <a:spcPts val="5392"/>
              </a:lnSpc>
            </a:pPr>
            <a:r>
              <a:rPr lang="en-US" sz="2531" spc="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5631" y="8223890"/>
            <a:ext cx="11049666" cy="958596"/>
            <a:chOff x="0" y="0"/>
            <a:chExt cx="2761143" cy="2395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61143" cy="239538"/>
            </a:xfrm>
            <a:custGeom>
              <a:avLst/>
              <a:gdLst/>
              <a:ahLst/>
              <a:cxnLst/>
              <a:rect r="r" b="b" t="t" l="l"/>
              <a:pathLst>
                <a:path h="239538" w="2761143">
                  <a:moveTo>
                    <a:pt x="0" y="0"/>
                  </a:moveTo>
                  <a:lnTo>
                    <a:pt x="2761143" y="0"/>
                  </a:lnTo>
                  <a:lnTo>
                    <a:pt x="2761143" y="239538"/>
                  </a:lnTo>
                  <a:lnTo>
                    <a:pt x="0" y="239538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61143" cy="296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Key elements : talent acquisition, performance management, leadership development, organizational culture, and change management.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5631" y="2601030"/>
            <a:ext cx="11049666" cy="1495679"/>
            <a:chOff x="0" y="0"/>
            <a:chExt cx="2761143" cy="373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1143" cy="373747"/>
            </a:xfrm>
            <a:custGeom>
              <a:avLst/>
              <a:gdLst/>
              <a:ahLst/>
              <a:cxnLst/>
              <a:rect r="r" b="b" t="t" l="l"/>
              <a:pathLst>
                <a:path h="373747" w="2761143">
                  <a:moveTo>
                    <a:pt x="0" y="0"/>
                  </a:moveTo>
                  <a:lnTo>
                    <a:pt x="2761143" y="0"/>
                  </a:lnTo>
                  <a:lnTo>
                    <a:pt x="2761143" y="373747"/>
                  </a:lnTo>
                  <a:lnTo>
                    <a:pt x="0" y="373747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761143" cy="44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639"/>
                </a:lnSpc>
              </a:pPr>
              <a:r>
                <a:rPr lang="en-US" sz="2599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Strategic Human Resource Management (SHRM) is the practice of aligning HR policies and practices with overall business strategy to achieve long-term organizational goals.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376558" y="4274000"/>
            <a:ext cx="4882742" cy="3662057"/>
          </a:xfrm>
          <a:custGeom>
            <a:avLst/>
            <a:gdLst/>
            <a:ahLst/>
            <a:cxnLst/>
            <a:rect r="r" b="b" t="t" l="l"/>
            <a:pathLst>
              <a:path h="3662057" w="4882742">
                <a:moveTo>
                  <a:pt x="0" y="0"/>
                </a:moveTo>
                <a:lnTo>
                  <a:pt x="4882742" y="0"/>
                </a:lnTo>
                <a:lnTo>
                  <a:pt x="4882742" y="3662057"/>
                </a:lnTo>
                <a:lnTo>
                  <a:pt x="0" y="3662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824427" y="1115173"/>
            <a:ext cx="1028656" cy="1028656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45355" y="944071"/>
            <a:ext cx="7413782" cy="136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339"/>
              </a:lnSpc>
            </a:pPr>
            <a:r>
              <a:rPr lang="en-US" sz="6749" spc="634">
                <a:solidFill>
                  <a:srgbClr val="260317">
                    <a:alpha val="95686"/>
                  </a:srgbClr>
                </a:solidFill>
                <a:latin typeface="Catchy Mager"/>
                <a:ea typeface="Catchy Mager"/>
                <a:cs typeface="Catchy Mager"/>
                <a:sym typeface="Catchy Mager"/>
              </a:rPr>
              <a:t>WHAT IS SHRM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5631" y="4504055"/>
            <a:ext cx="10724295" cy="3264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566" indent="-252283" lvl="1">
              <a:lnSpc>
                <a:spcPts val="3271"/>
              </a:lnSpc>
              <a:buAutoNum type="arabicPeriod" startAt="1"/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Goes beyond traditional HR ( hiring, payroll,compliance) to focus on people as a strategic asset.</a:t>
            </a:r>
          </a:p>
          <a:p>
            <a:pPr algn="l" marL="504566" indent="-252283" lvl="1">
              <a:lnSpc>
                <a:spcPts val="3271"/>
              </a:lnSpc>
              <a:buAutoNum type="arabicPeriod" startAt="1"/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Integrates HR planning directly into business strategy formulation</a:t>
            </a:r>
          </a:p>
          <a:p>
            <a:pPr algn="l" marL="504566" indent="-252283" lvl="1">
              <a:lnSpc>
                <a:spcPts val="3271"/>
              </a:lnSpc>
              <a:buAutoNum type="arabicPeriod" startAt="1"/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Focuses on long-term workforce planning rather than day-to-day administration</a:t>
            </a:r>
          </a:p>
          <a:p>
            <a:pPr algn="l" marL="504566" indent="-252283" lvl="1">
              <a:lnSpc>
                <a:spcPts val="3271"/>
              </a:lnSpc>
              <a:buAutoNum type="arabicPeriod" startAt="1"/>
            </a:pPr>
            <a:r>
              <a:rPr lang="en-US" sz="2337" spc="51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Treats employees as a source of competitive advantage, not just a cost center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1372" y="493143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9108" y="2763636"/>
            <a:ext cx="7301171" cy="5986898"/>
            <a:chOff x="0" y="0"/>
            <a:chExt cx="1824451" cy="14960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4451" cy="1496035"/>
            </a:xfrm>
            <a:custGeom>
              <a:avLst/>
              <a:gdLst/>
              <a:ahLst/>
              <a:cxnLst/>
              <a:rect r="r" b="b" t="t" l="l"/>
              <a:pathLst>
                <a:path h="1496035" w="1824451">
                  <a:moveTo>
                    <a:pt x="0" y="0"/>
                  </a:moveTo>
                  <a:lnTo>
                    <a:pt x="1824451" y="0"/>
                  </a:lnTo>
                  <a:lnTo>
                    <a:pt x="1824451" y="1496035"/>
                  </a:lnTo>
                  <a:lnTo>
                    <a:pt x="0" y="1496035"/>
                  </a:lnTo>
                  <a:close/>
                </a:path>
              </a:pathLst>
            </a:custGeom>
            <a:solidFill>
              <a:srgbClr val="FAEE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4451" cy="1534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8436" y="3220327"/>
            <a:ext cx="2367004" cy="1144885"/>
            <a:chOff x="0" y="0"/>
            <a:chExt cx="623409" cy="3015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3409" cy="301533"/>
            </a:xfrm>
            <a:custGeom>
              <a:avLst/>
              <a:gdLst/>
              <a:ahLst/>
              <a:cxnLst/>
              <a:rect r="r" b="b" t="t" l="l"/>
              <a:pathLst>
                <a:path h="301533" w="623409">
                  <a:moveTo>
                    <a:pt x="150767" y="0"/>
                  </a:moveTo>
                  <a:lnTo>
                    <a:pt x="472642" y="0"/>
                  </a:lnTo>
                  <a:cubicBezTo>
                    <a:pt x="512628" y="0"/>
                    <a:pt x="550976" y="15884"/>
                    <a:pt x="579250" y="44159"/>
                  </a:cubicBezTo>
                  <a:cubicBezTo>
                    <a:pt x="607524" y="72433"/>
                    <a:pt x="623409" y="110781"/>
                    <a:pt x="623409" y="150767"/>
                  </a:cubicBezTo>
                  <a:lnTo>
                    <a:pt x="623409" y="150767"/>
                  </a:lnTo>
                  <a:cubicBezTo>
                    <a:pt x="623409" y="190753"/>
                    <a:pt x="607524" y="229101"/>
                    <a:pt x="579250" y="257375"/>
                  </a:cubicBezTo>
                  <a:cubicBezTo>
                    <a:pt x="550976" y="285649"/>
                    <a:pt x="512628" y="301533"/>
                    <a:pt x="472642" y="301533"/>
                  </a:cubicBezTo>
                  <a:lnTo>
                    <a:pt x="150767" y="301533"/>
                  </a:lnTo>
                  <a:cubicBezTo>
                    <a:pt x="110781" y="301533"/>
                    <a:pt x="72433" y="285649"/>
                    <a:pt x="44159" y="257375"/>
                  </a:cubicBezTo>
                  <a:cubicBezTo>
                    <a:pt x="15884" y="229101"/>
                    <a:pt x="0" y="190753"/>
                    <a:pt x="0" y="150767"/>
                  </a:cubicBezTo>
                  <a:lnTo>
                    <a:pt x="0" y="150767"/>
                  </a:lnTo>
                  <a:cubicBezTo>
                    <a:pt x="0" y="110781"/>
                    <a:pt x="15884" y="72433"/>
                    <a:pt x="44159" y="44159"/>
                  </a:cubicBezTo>
                  <a:cubicBezTo>
                    <a:pt x="72433" y="15884"/>
                    <a:pt x="110781" y="0"/>
                    <a:pt x="150767" y="0"/>
                  </a:cubicBez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80975"/>
              <a:ext cx="623409" cy="482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5"/>
                </a:lnSpc>
              </a:pPr>
              <a:r>
                <a:rPr lang="en-US" b="true" sz="1937" spc="4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People</a:t>
              </a:r>
            </a:p>
            <a:p>
              <a:pPr algn="ctr">
                <a:lnSpc>
                  <a:spcPts val="4125"/>
                </a:lnSpc>
              </a:pPr>
              <a:r>
                <a:rPr lang="en-US" sz="1937" spc="42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Talent, Skills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8436" y="4988053"/>
            <a:ext cx="2367004" cy="988738"/>
            <a:chOff x="0" y="0"/>
            <a:chExt cx="623409" cy="260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3409" cy="260408"/>
            </a:xfrm>
            <a:custGeom>
              <a:avLst/>
              <a:gdLst/>
              <a:ahLst/>
              <a:cxnLst/>
              <a:rect r="r" b="b" t="t" l="l"/>
              <a:pathLst>
                <a:path h="260408" w="623409">
                  <a:moveTo>
                    <a:pt x="130204" y="0"/>
                  </a:moveTo>
                  <a:lnTo>
                    <a:pt x="493204" y="0"/>
                  </a:lnTo>
                  <a:cubicBezTo>
                    <a:pt x="565114" y="0"/>
                    <a:pt x="623409" y="58294"/>
                    <a:pt x="623409" y="130204"/>
                  </a:cubicBezTo>
                  <a:lnTo>
                    <a:pt x="623409" y="130204"/>
                  </a:lnTo>
                  <a:cubicBezTo>
                    <a:pt x="623409" y="164736"/>
                    <a:pt x="609691" y="197854"/>
                    <a:pt x="585273" y="222272"/>
                  </a:cubicBezTo>
                  <a:cubicBezTo>
                    <a:pt x="560855" y="246690"/>
                    <a:pt x="527737" y="260408"/>
                    <a:pt x="493204" y="260408"/>
                  </a:cubicBezTo>
                  <a:lnTo>
                    <a:pt x="130204" y="260408"/>
                  </a:lnTo>
                  <a:cubicBezTo>
                    <a:pt x="95672" y="260408"/>
                    <a:pt x="62554" y="246690"/>
                    <a:pt x="38136" y="222272"/>
                  </a:cubicBezTo>
                  <a:cubicBezTo>
                    <a:pt x="13718" y="197854"/>
                    <a:pt x="0" y="164736"/>
                    <a:pt x="0" y="130204"/>
                  </a:cubicBezTo>
                  <a:lnTo>
                    <a:pt x="0" y="130204"/>
                  </a:lnTo>
                  <a:cubicBezTo>
                    <a:pt x="0" y="95672"/>
                    <a:pt x="13718" y="62554"/>
                    <a:pt x="38136" y="38136"/>
                  </a:cubicBezTo>
                  <a:cubicBezTo>
                    <a:pt x="62554" y="13718"/>
                    <a:pt x="95672" y="0"/>
                    <a:pt x="130204" y="0"/>
                  </a:cubicBez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80975"/>
              <a:ext cx="623409" cy="441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32"/>
                </a:lnSpc>
              </a:pPr>
              <a:r>
                <a:rPr lang="en-US" b="true" sz="1940" spc="4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Technology</a:t>
              </a:r>
            </a:p>
            <a:p>
              <a:pPr algn="ctr">
                <a:lnSpc>
                  <a:spcPts val="4132"/>
                </a:lnSpc>
              </a:pPr>
              <a:r>
                <a:rPr lang="en-US" sz="1940" spc="42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Tools, Data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844815" y="4979012"/>
            <a:ext cx="2367004" cy="988738"/>
            <a:chOff x="0" y="0"/>
            <a:chExt cx="623409" cy="2604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3409" cy="260408"/>
            </a:xfrm>
            <a:custGeom>
              <a:avLst/>
              <a:gdLst/>
              <a:ahLst/>
              <a:cxnLst/>
              <a:rect r="r" b="b" t="t" l="l"/>
              <a:pathLst>
                <a:path h="260408" w="623409">
                  <a:moveTo>
                    <a:pt x="130204" y="0"/>
                  </a:moveTo>
                  <a:lnTo>
                    <a:pt x="493204" y="0"/>
                  </a:lnTo>
                  <a:cubicBezTo>
                    <a:pt x="565114" y="0"/>
                    <a:pt x="623409" y="58294"/>
                    <a:pt x="623409" y="130204"/>
                  </a:cubicBezTo>
                  <a:lnTo>
                    <a:pt x="623409" y="130204"/>
                  </a:lnTo>
                  <a:cubicBezTo>
                    <a:pt x="623409" y="164736"/>
                    <a:pt x="609691" y="197854"/>
                    <a:pt x="585273" y="222272"/>
                  </a:cubicBezTo>
                  <a:cubicBezTo>
                    <a:pt x="560855" y="246690"/>
                    <a:pt x="527737" y="260408"/>
                    <a:pt x="493204" y="260408"/>
                  </a:cubicBezTo>
                  <a:lnTo>
                    <a:pt x="130204" y="260408"/>
                  </a:lnTo>
                  <a:cubicBezTo>
                    <a:pt x="95672" y="260408"/>
                    <a:pt x="62554" y="246690"/>
                    <a:pt x="38136" y="222272"/>
                  </a:cubicBezTo>
                  <a:cubicBezTo>
                    <a:pt x="13718" y="197854"/>
                    <a:pt x="0" y="164736"/>
                    <a:pt x="0" y="130204"/>
                  </a:cubicBezTo>
                  <a:lnTo>
                    <a:pt x="0" y="130204"/>
                  </a:lnTo>
                  <a:cubicBezTo>
                    <a:pt x="0" y="95672"/>
                    <a:pt x="13718" y="62554"/>
                    <a:pt x="38136" y="38136"/>
                  </a:cubicBezTo>
                  <a:cubicBezTo>
                    <a:pt x="62554" y="13718"/>
                    <a:pt x="95672" y="0"/>
                    <a:pt x="130204" y="0"/>
                  </a:cubicBez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80975"/>
              <a:ext cx="623409" cy="441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32"/>
                </a:lnSpc>
              </a:pPr>
              <a:r>
                <a:rPr lang="en-US" b="true" sz="1940" spc="4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Culture</a:t>
              </a:r>
            </a:p>
            <a:p>
              <a:pPr algn="ctr">
                <a:lnSpc>
                  <a:spcPts val="4132"/>
                </a:lnSpc>
              </a:pPr>
              <a:r>
                <a:rPr lang="en-US" sz="1940" spc="42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Values, Mindset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43161" y="3220327"/>
            <a:ext cx="2367004" cy="1144885"/>
            <a:chOff x="0" y="0"/>
            <a:chExt cx="623409" cy="3015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409" cy="301533"/>
            </a:xfrm>
            <a:custGeom>
              <a:avLst/>
              <a:gdLst/>
              <a:ahLst/>
              <a:cxnLst/>
              <a:rect r="r" b="b" t="t" l="l"/>
              <a:pathLst>
                <a:path h="301533" w="623409">
                  <a:moveTo>
                    <a:pt x="150767" y="0"/>
                  </a:moveTo>
                  <a:lnTo>
                    <a:pt x="472642" y="0"/>
                  </a:lnTo>
                  <a:cubicBezTo>
                    <a:pt x="512628" y="0"/>
                    <a:pt x="550976" y="15884"/>
                    <a:pt x="579250" y="44159"/>
                  </a:cubicBezTo>
                  <a:cubicBezTo>
                    <a:pt x="607524" y="72433"/>
                    <a:pt x="623409" y="110781"/>
                    <a:pt x="623409" y="150767"/>
                  </a:cubicBezTo>
                  <a:lnTo>
                    <a:pt x="623409" y="150767"/>
                  </a:lnTo>
                  <a:cubicBezTo>
                    <a:pt x="623409" y="190753"/>
                    <a:pt x="607524" y="229101"/>
                    <a:pt x="579250" y="257375"/>
                  </a:cubicBezTo>
                  <a:cubicBezTo>
                    <a:pt x="550976" y="285649"/>
                    <a:pt x="512628" y="301533"/>
                    <a:pt x="472642" y="301533"/>
                  </a:cubicBezTo>
                  <a:lnTo>
                    <a:pt x="150767" y="301533"/>
                  </a:lnTo>
                  <a:cubicBezTo>
                    <a:pt x="110781" y="301533"/>
                    <a:pt x="72433" y="285649"/>
                    <a:pt x="44159" y="257375"/>
                  </a:cubicBezTo>
                  <a:cubicBezTo>
                    <a:pt x="15884" y="229101"/>
                    <a:pt x="0" y="190753"/>
                    <a:pt x="0" y="150767"/>
                  </a:cubicBezTo>
                  <a:lnTo>
                    <a:pt x="0" y="150767"/>
                  </a:lnTo>
                  <a:cubicBezTo>
                    <a:pt x="0" y="110781"/>
                    <a:pt x="15884" y="72433"/>
                    <a:pt x="44159" y="44159"/>
                  </a:cubicBezTo>
                  <a:cubicBezTo>
                    <a:pt x="72433" y="15884"/>
                    <a:pt x="110781" y="0"/>
                    <a:pt x="150767" y="0"/>
                  </a:cubicBez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80975"/>
              <a:ext cx="623409" cy="482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32"/>
                </a:lnSpc>
              </a:pPr>
              <a:r>
                <a:rPr lang="en-US" b="true" sz="1940" spc="4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Strategy</a:t>
              </a:r>
            </a:p>
            <a:p>
              <a:pPr algn="ctr">
                <a:lnSpc>
                  <a:spcPts val="4132"/>
                </a:lnSpc>
              </a:pPr>
              <a:r>
                <a:rPr lang="en-US" sz="1940" spc="42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Business goals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97686" y="6903395"/>
            <a:ext cx="4744015" cy="1691521"/>
            <a:chOff x="0" y="0"/>
            <a:chExt cx="1249452" cy="4455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9453" cy="444773"/>
            </a:xfrm>
            <a:custGeom>
              <a:avLst/>
              <a:gdLst/>
              <a:ahLst/>
              <a:cxnLst/>
              <a:rect r="r" b="b" t="t" l="l"/>
              <a:pathLst>
                <a:path h="444773" w="1249453">
                  <a:moveTo>
                    <a:pt x="818001" y="0"/>
                  </a:moveTo>
                  <a:lnTo>
                    <a:pt x="1130364" y="84719"/>
                  </a:lnTo>
                  <a:lnTo>
                    <a:pt x="1249453" y="222021"/>
                  </a:lnTo>
                  <a:lnTo>
                    <a:pt x="1130364" y="359324"/>
                  </a:lnTo>
                  <a:lnTo>
                    <a:pt x="818001" y="444773"/>
                  </a:lnTo>
                  <a:lnTo>
                    <a:pt x="431452" y="444773"/>
                  </a:lnTo>
                  <a:lnTo>
                    <a:pt x="119088" y="359324"/>
                  </a:lnTo>
                  <a:lnTo>
                    <a:pt x="0" y="222021"/>
                  </a:lnTo>
                  <a:lnTo>
                    <a:pt x="119088" y="84719"/>
                  </a:lnTo>
                  <a:lnTo>
                    <a:pt x="431452" y="0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95227" y="-143820"/>
              <a:ext cx="858999" cy="530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0"/>
                </a:lnSpc>
              </a:pPr>
              <a:r>
                <a:rPr lang="en-US" b="true" sz="2437" spc="5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Business Results</a:t>
              </a:r>
            </a:p>
            <a:p>
              <a:pPr algn="ctr">
                <a:lnSpc>
                  <a:spcPts val="5190"/>
                </a:lnSpc>
              </a:pPr>
              <a:r>
                <a:rPr lang="en-US" sz="2437" spc="53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Growth, Success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H="true">
            <a:off x="6788619" y="4361020"/>
            <a:ext cx="221276" cy="5980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>
            <a:off x="3012144" y="4375882"/>
            <a:ext cx="224051" cy="6321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3715391" y="5979603"/>
            <a:ext cx="503687" cy="9953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H="true">
            <a:off x="5730085" y="5863514"/>
            <a:ext cx="531840" cy="10470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8" id="28"/>
          <p:cNvSpPr txBox="true"/>
          <p:nvPr/>
        </p:nvSpPr>
        <p:spPr>
          <a:xfrm rot="0">
            <a:off x="1028700" y="1366924"/>
            <a:ext cx="8384262" cy="79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8"/>
              </a:lnSpc>
            </a:pPr>
            <a:r>
              <a:rPr lang="en-US" sz="5977" spc="663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SHRM CONNECTS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2743425"/>
            <a:ext cx="7785829" cy="590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1"/>
              </a:lnSpc>
            </a:pPr>
            <a:r>
              <a:rPr lang="en-US" b="true" sz="2225" spc="247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People: </a:t>
            </a:r>
            <a:r>
              <a:rPr lang="en-US" sz="2225" spc="24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The employees and their skills are the foundation of any organization.</a:t>
            </a:r>
          </a:p>
          <a:p>
            <a:pPr algn="just">
              <a:lnSpc>
                <a:spcPts val="3961"/>
              </a:lnSpc>
            </a:pPr>
            <a:r>
              <a:rPr lang="en-US" b="true" sz="2225" spc="247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Strategy: </a:t>
            </a:r>
            <a:r>
              <a:rPr lang="en-US" sz="2225" spc="24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The Company’s long-term goals guide how people are managed and developed.</a:t>
            </a:r>
          </a:p>
          <a:p>
            <a:pPr algn="just">
              <a:lnSpc>
                <a:spcPts val="3961"/>
              </a:lnSpc>
            </a:pPr>
            <a:r>
              <a:rPr lang="en-US" b="true" sz="2225" spc="247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Technology: </a:t>
            </a:r>
            <a:r>
              <a:rPr lang="en-US" sz="2225" spc="24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Digital tools and data help HR make smarter, faster decisions.</a:t>
            </a:r>
          </a:p>
          <a:p>
            <a:pPr algn="just">
              <a:lnSpc>
                <a:spcPts val="3961"/>
              </a:lnSpc>
            </a:pPr>
            <a:r>
              <a:rPr lang="en-US" b="true" sz="2225" spc="247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Culture: </a:t>
            </a:r>
            <a:r>
              <a:rPr lang="en-US" sz="2225" spc="24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Shared values and mindset shape how people behave and work together.</a:t>
            </a:r>
          </a:p>
          <a:p>
            <a:pPr algn="just">
              <a:lnSpc>
                <a:spcPts val="3961"/>
              </a:lnSpc>
            </a:pPr>
            <a:r>
              <a:rPr lang="en-US" b="true" sz="2225" spc="247">
                <a:solidFill>
                  <a:srgbClr val="2603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Results: </a:t>
            </a:r>
            <a:r>
              <a:rPr lang="en-US" sz="2225" spc="24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When people, strategy, technology, and culture align, the company grows and succeeds.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solidFill>
              <a:srgbClr val="E8DCDA"/>
            </a:solidFill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65540" y="3543109"/>
            <a:ext cx="9556921" cy="5227853"/>
            <a:chOff x="0" y="0"/>
            <a:chExt cx="2388129" cy="13063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8129" cy="1306361"/>
            </a:xfrm>
            <a:custGeom>
              <a:avLst/>
              <a:gdLst/>
              <a:ahLst/>
              <a:cxnLst/>
              <a:rect r="r" b="b" t="t" l="l"/>
              <a:pathLst>
                <a:path h="1306361" w="2388129">
                  <a:moveTo>
                    <a:pt x="0" y="0"/>
                  </a:moveTo>
                  <a:lnTo>
                    <a:pt x="2388129" y="0"/>
                  </a:lnTo>
                  <a:lnTo>
                    <a:pt x="2388129" y="1306361"/>
                  </a:lnTo>
                  <a:lnTo>
                    <a:pt x="0" y="1306361"/>
                  </a:lnTo>
                  <a:close/>
                </a:path>
              </a:pathLst>
            </a:custGeom>
            <a:solidFill>
              <a:srgbClr val="FAEE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88129" cy="1344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483998" y="1028700"/>
            <a:ext cx="1196375" cy="1155508"/>
          </a:xfrm>
          <a:custGeom>
            <a:avLst/>
            <a:gdLst/>
            <a:ahLst/>
            <a:cxnLst/>
            <a:rect r="r" b="b" t="t" l="l"/>
            <a:pathLst>
              <a:path h="1155508" w="1196375">
                <a:moveTo>
                  <a:pt x="0" y="0"/>
                </a:moveTo>
                <a:lnTo>
                  <a:pt x="1196375" y="0"/>
                </a:lnTo>
                <a:lnTo>
                  <a:pt x="1196375" y="1155508"/>
                </a:lnTo>
                <a:lnTo>
                  <a:pt x="0" y="1155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8" r="0" b="-176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07600" y="1171575"/>
            <a:ext cx="11072799" cy="180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7154" spc="1459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FUTURE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53376" y="3884919"/>
            <a:ext cx="8973901" cy="382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Talent Shortage</a:t>
            </a:r>
          </a:p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Technology Dsiruption</a:t>
            </a:r>
          </a:p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Hybrid/Remote work management</a:t>
            </a:r>
          </a:p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Generational diversity</a:t>
            </a:r>
          </a:p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Regulatory complexity</a:t>
            </a:r>
          </a:p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Employee Retention</a:t>
            </a:r>
          </a:p>
          <a:p>
            <a:pPr algn="ctr">
              <a:lnSpc>
                <a:spcPts val="4418"/>
              </a:lnSpc>
            </a:pPr>
            <a:r>
              <a:rPr lang="en-US" sz="2325" spc="258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Mental health &amp; Burnout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solidFill>
              <a:srgbClr val="DCCBD3"/>
            </a:solidFill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48" y="2458387"/>
            <a:ext cx="3303398" cy="116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  <a:spcBef>
                <a:spcPct val="0"/>
              </a:spcBef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Competing for skilled workers in a tightening labour market</a:t>
            </a: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5657" y="6452764"/>
            <a:ext cx="3303398" cy="194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  <a:spcBef>
                <a:spcPct val="0"/>
              </a:spcBef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Keeping pace with evolving labor laws, DEI mandates, and compliance requirements.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81055" y="6480928"/>
            <a:ext cx="3303398" cy="155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  <a:spcBef>
                <a:spcPct val="0"/>
              </a:spcBef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Rising turnover costs and the “Great Resignation” aftermath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46452" y="6480928"/>
            <a:ext cx="3303398" cy="116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  <a:spcBef>
                <a:spcPct val="0"/>
              </a:spcBef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Increasing pressure to support employee wellbeing at scale.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1055" y="2458387"/>
            <a:ext cx="3303398" cy="116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4"/>
              </a:lnSpc>
              <a:spcBef>
                <a:spcPct val="0"/>
              </a:spcBef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Automation and AI reshaping job roles and required skillsets.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6452" y="2488038"/>
            <a:ext cx="3303398" cy="113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8"/>
              </a:lnSpc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Maintaining culture and productivity across distributed teams.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11850" y="2467912"/>
            <a:ext cx="3303398" cy="189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8"/>
              </a:lnSpc>
            </a:pPr>
            <a:r>
              <a:rPr lang="en-US" sz="2217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Managing multi-generational workforces(Genz to Boomers) with different expectations.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14148" y="1328974"/>
            <a:ext cx="3303398" cy="645068"/>
            <a:chOff x="0" y="0"/>
            <a:chExt cx="870031" cy="169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Talent Shortage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4148" y="5323950"/>
            <a:ext cx="3303398" cy="645068"/>
            <a:chOff x="0" y="0"/>
            <a:chExt cx="870031" cy="1698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Regulatory Complexity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1055" y="5323950"/>
            <a:ext cx="3303398" cy="645068"/>
            <a:chOff x="0" y="0"/>
            <a:chExt cx="870031" cy="1698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Employee Retention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46452" y="5323950"/>
            <a:ext cx="3303398" cy="645068"/>
            <a:chOff x="0" y="0"/>
            <a:chExt cx="870031" cy="1698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Mental Health &amp; Burnout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1055" y="1328974"/>
            <a:ext cx="3303398" cy="645068"/>
            <a:chOff x="0" y="0"/>
            <a:chExt cx="870031" cy="1698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Technology Disruption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46452" y="1328974"/>
            <a:ext cx="3303398" cy="645068"/>
            <a:chOff x="0" y="0"/>
            <a:chExt cx="870031" cy="1698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Hybrid/Remote work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11850" y="1328974"/>
            <a:ext cx="3303398" cy="645068"/>
            <a:chOff x="0" y="0"/>
            <a:chExt cx="870031" cy="16989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0031" cy="169895"/>
            </a:xfrm>
            <a:custGeom>
              <a:avLst/>
              <a:gdLst/>
              <a:ahLst/>
              <a:cxnLst/>
              <a:rect r="r" b="b" t="t" l="l"/>
              <a:pathLst>
                <a:path h="169895" w="870031">
                  <a:moveTo>
                    <a:pt x="0" y="0"/>
                  </a:moveTo>
                  <a:lnTo>
                    <a:pt x="870031" y="0"/>
                  </a:lnTo>
                  <a:lnTo>
                    <a:pt x="870031" y="169895"/>
                  </a:lnTo>
                  <a:lnTo>
                    <a:pt x="0" y="169895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70031" cy="22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  <a:r>
                <a:rPr lang="en-US" sz="2400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Generational Diversity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solidFill>
              <a:srgbClr val="EAD3E0"/>
            </a:solidFill>
            <a:ln w="66675" cap="sq">
              <a:solidFill>
                <a:srgbClr val="E3C4B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00616" y="3527009"/>
            <a:ext cx="8051135" cy="4886609"/>
            <a:chOff x="0" y="0"/>
            <a:chExt cx="1057123" cy="6416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7123" cy="641617"/>
            </a:xfrm>
            <a:custGeom>
              <a:avLst/>
              <a:gdLst/>
              <a:ahLst/>
              <a:cxnLst/>
              <a:rect r="r" b="b" t="t" l="l"/>
              <a:pathLst>
                <a:path h="641617" w="1057123">
                  <a:moveTo>
                    <a:pt x="8654" y="0"/>
                  </a:moveTo>
                  <a:lnTo>
                    <a:pt x="1048469" y="0"/>
                  </a:lnTo>
                  <a:cubicBezTo>
                    <a:pt x="1050764" y="0"/>
                    <a:pt x="1052965" y="912"/>
                    <a:pt x="1054588" y="2535"/>
                  </a:cubicBezTo>
                  <a:cubicBezTo>
                    <a:pt x="1056211" y="4158"/>
                    <a:pt x="1057123" y="6359"/>
                    <a:pt x="1057123" y="8654"/>
                  </a:cubicBezTo>
                  <a:lnTo>
                    <a:pt x="1057123" y="632963"/>
                  </a:lnTo>
                  <a:cubicBezTo>
                    <a:pt x="1057123" y="635258"/>
                    <a:pt x="1056211" y="637459"/>
                    <a:pt x="1054588" y="639082"/>
                  </a:cubicBezTo>
                  <a:cubicBezTo>
                    <a:pt x="1052965" y="640705"/>
                    <a:pt x="1050764" y="641617"/>
                    <a:pt x="1048469" y="641617"/>
                  </a:cubicBezTo>
                  <a:lnTo>
                    <a:pt x="8654" y="641617"/>
                  </a:lnTo>
                  <a:cubicBezTo>
                    <a:pt x="6359" y="641617"/>
                    <a:pt x="4158" y="640705"/>
                    <a:pt x="2535" y="639082"/>
                  </a:cubicBezTo>
                  <a:cubicBezTo>
                    <a:pt x="912" y="637459"/>
                    <a:pt x="0" y="635258"/>
                    <a:pt x="0" y="632963"/>
                  </a:cubicBezTo>
                  <a:lnTo>
                    <a:pt x="0" y="8654"/>
                  </a:lnTo>
                  <a:cubicBezTo>
                    <a:pt x="0" y="6359"/>
                    <a:pt x="912" y="4158"/>
                    <a:pt x="2535" y="2535"/>
                  </a:cubicBezTo>
                  <a:cubicBezTo>
                    <a:pt x="4158" y="912"/>
                    <a:pt x="6359" y="0"/>
                    <a:pt x="8654" y="0"/>
                  </a:cubicBezTo>
                  <a:close/>
                </a:path>
              </a:pathLst>
            </a:custGeom>
            <a:solidFill>
              <a:srgbClr val="F3F0F1"/>
            </a:solidFill>
            <a:ln w="19050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57123" cy="698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370429" y="2050461"/>
            <a:ext cx="972894" cy="972894"/>
          </a:xfrm>
          <a:custGeom>
            <a:avLst/>
            <a:gdLst/>
            <a:ahLst/>
            <a:cxnLst/>
            <a:rect r="r" b="b" t="t" l="l"/>
            <a:pathLst>
              <a:path h="972894" w="972894">
                <a:moveTo>
                  <a:pt x="0" y="0"/>
                </a:moveTo>
                <a:lnTo>
                  <a:pt x="972894" y="0"/>
                </a:lnTo>
                <a:lnTo>
                  <a:pt x="972894" y="972894"/>
                </a:lnTo>
                <a:lnTo>
                  <a:pt x="0" y="97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8661" y="990600"/>
            <a:ext cx="12095800" cy="203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6"/>
              </a:lnSpc>
            </a:pPr>
            <a:r>
              <a:rPr lang="en-US" sz="6468" spc="1086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FUTURE OPPORTUNITIES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60336" y="4088847"/>
            <a:ext cx="5331695" cy="362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HR Technoloogy &amp; AI</a:t>
            </a:r>
          </a:p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Reskilling &amp; upskilling</a:t>
            </a:r>
          </a:p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Employer branding</a:t>
            </a:r>
          </a:p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Flexible work models</a:t>
            </a:r>
          </a:p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DEI as strategy</a:t>
            </a:r>
          </a:p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Employee experience design</a:t>
            </a:r>
          </a:p>
          <a:p>
            <a:pPr algn="ctr">
              <a:lnSpc>
                <a:spcPts val="4129"/>
              </a:lnSpc>
            </a:pPr>
            <a:r>
              <a:rPr lang="en-US" sz="2319" spc="255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Global talent pools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7946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solidFill>
              <a:srgbClr val="DCCBD3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54469" y="1528854"/>
            <a:ext cx="29117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22418"/>
                </a:solidFill>
                <a:latin typeface="Catchy Mager"/>
                <a:ea typeface="Catchy Mager"/>
                <a:cs typeface="Catchy Mager"/>
                <a:sym typeface="Catchy Mager"/>
              </a:rPr>
              <a:t>HR Tecnology &amp;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69922" y="1528854"/>
            <a:ext cx="29117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22418"/>
                </a:solidFill>
                <a:latin typeface="Catchy Mager"/>
                <a:ea typeface="Catchy Mager"/>
                <a:cs typeface="Catchy Mager"/>
                <a:sym typeface="Catchy Mager"/>
              </a:rPr>
              <a:t>Reskilling &amp; Upskilling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6516" y="1528854"/>
            <a:ext cx="29117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22418"/>
                </a:solidFill>
                <a:latin typeface="Catchy Mager"/>
                <a:ea typeface="Catchy Mager"/>
                <a:cs typeface="Catchy Mager"/>
                <a:sym typeface="Catchy Mager"/>
              </a:rPr>
              <a:t>Employer Branding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20216" y="1528854"/>
            <a:ext cx="3418129" cy="40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311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Flexible work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69922" y="4855012"/>
            <a:ext cx="3359119" cy="81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311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Employee Experience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61097" y="4855012"/>
            <a:ext cx="3359119" cy="40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311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Global talent pools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4469" y="4884371"/>
            <a:ext cx="3071543" cy="40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  <a:spcBef>
                <a:spcPct val="0"/>
              </a:spcBef>
            </a:pPr>
            <a:r>
              <a:rPr lang="en-US" sz="2311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DEI as Strategy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4469" y="2263449"/>
            <a:ext cx="3071543" cy="184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Leveraging predictive analytics for recruitment, retention, and performance.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69922" y="2258391"/>
            <a:ext cx="3071543" cy="147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Building internal talent pipelines instead of only external hiring.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86516" y="2258391"/>
            <a:ext cx="3071543" cy="11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Using strong culture and values to attract top talent.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4469" y="5428247"/>
            <a:ext cx="3071543" cy="184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Diversity and inclusion dricing innovation and better decision-making.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20216" y="2263449"/>
            <a:ext cx="3418129" cy="11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Turning hybrid/ remote work into a competitive advantage.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69922" y="5799722"/>
            <a:ext cx="3359119" cy="11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Treating the employee journey like a customer journey.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61097" y="5799722"/>
            <a:ext cx="3359119" cy="1106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220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Remote work enabling access to talent beyond geographic limits.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388534" y="1882940"/>
          <a:ext cx="11510931" cy="7052469"/>
        </p:xfrm>
        <a:graphic>
          <a:graphicData uri="http://schemas.openxmlformats.org/drawingml/2006/table">
            <a:tbl>
              <a:tblPr/>
              <a:tblGrid>
                <a:gridCol w="5231717"/>
                <a:gridCol w="6279215"/>
              </a:tblGrid>
              <a:tr h="8810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59"/>
                        </a:lnSpc>
                        <a:defRPr/>
                      </a:pPr>
                      <a:r>
                        <a:rPr lang="en-US" sz="2328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CHALLENGES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62"/>
                        </a:lnSpc>
                        <a:defRPr/>
                      </a:pPr>
                      <a:r>
                        <a:rPr lang="en-US" sz="2330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OPPORTUNITIES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9"/>
                        </a:lnSpc>
                        <a:defRPr/>
                      </a:pPr>
                      <a:r>
                        <a:rPr lang="en-US" sz="2128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Talent Shortage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Access to global remote talent pools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Automation/AI Disruption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AI-powered HR analytics &amp; efficiency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1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Hybrid work management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Flexible work as an attraction 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Generational Diversity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Tailored engagement &amp; mentorship programs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Regulatory 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Strengthened compliance = trust &amp; reputation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64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High Turnover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Better retention via employee experience design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27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Burnout/mental health strain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81"/>
                        </a:lnSpc>
                        <a:defRPr/>
                      </a:pPr>
                      <a:r>
                        <a:rPr lang="en-US" sz="2129">
                          <a:solidFill>
                            <a:srgbClr val="000000"/>
                          </a:solidFill>
                          <a:latin typeface="Catchy Mager"/>
                          <a:ea typeface="Catchy Mager"/>
                          <a:cs typeface="Catchy Mager"/>
                          <a:sym typeface="Catchy Mager"/>
                        </a:rPr>
                        <a:t>Wellbeing programs as a differentiator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3833620" y="906978"/>
            <a:ext cx="523459" cy="523459"/>
          </a:xfrm>
          <a:custGeom>
            <a:avLst/>
            <a:gdLst/>
            <a:ahLst/>
            <a:cxnLst/>
            <a:rect r="r" b="b" t="t" l="l"/>
            <a:pathLst>
              <a:path h="523459" w="523459">
                <a:moveTo>
                  <a:pt x="0" y="0"/>
                </a:moveTo>
                <a:lnTo>
                  <a:pt x="523459" y="0"/>
                </a:lnTo>
                <a:lnTo>
                  <a:pt x="523459" y="523459"/>
                </a:lnTo>
                <a:lnTo>
                  <a:pt x="0" y="523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97830" y="996865"/>
            <a:ext cx="433572" cy="433572"/>
          </a:xfrm>
          <a:custGeom>
            <a:avLst/>
            <a:gdLst/>
            <a:ahLst/>
            <a:cxnLst/>
            <a:rect r="r" b="b" t="t" l="l"/>
            <a:pathLst>
              <a:path h="433572" w="433572">
                <a:moveTo>
                  <a:pt x="0" y="0"/>
                </a:moveTo>
                <a:lnTo>
                  <a:pt x="433572" y="0"/>
                </a:lnTo>
                <a:lnTo>
                  <a:pt x="433572" y="433572"/>
                </a:lnTo>
                <a:lnTo>
                  <a:pt x="0" y="433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16812" y="889801"/>
            <a:ext cx="985437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2"/>
              </a:lnSpc>
            </a:pPr>
            <a:r>
              <a:rPr lang="en-US" sz="4027" spc="44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CHALLENGES VS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5571" y="741004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2375" y="3464564"/>
            <a:ext cx="363879" cy="444563"/>
            <a:chOff x="0" y="0"/>
            <a:chExt cx="95836" cy="1170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836" cy="117087"/>
            </a:xfrm>
            <a:custGeom>
              <a:avLst/>
              <a:gdLst/>
              <a:ahLst/>
              <a:cxnLst/>
              <a:rect r="r" b="b" t="t" l="l"/>
              <a:pathLst>
                <a:path h="117087" w="95836">
                  <a:moveTo>
                    <a:pt x="0" y="0"/>
                  </a:moveTo>
                  <a:lnTo>
                    <a:pt x="95836" y="0"/>
                  </a:lnTo>
                  <a:lnTo>
                    <a:pt x="95836" y="117087"/>
                  </a:lnTo>
                  <a:lnTo>
                    <a:pt x="0" y="117087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5836" cy="15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22375" y="4541367"/>
            <a:ext cx="363879" cy="444563"/>
            <a:chOff x="0" y="0"/>
            <a:chExt cx="95836" cy="117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836" cy="117087"/>
            </a:xfrm>
            <a:custGeom>
              <a:avLst/>
              <a:gdLst/>
              <a:ahLst/>
              <a:cxnLst/>
              <a:rect r="r" b="b" t="t" l="l"/>
              <a:pathLst>
                <a:path h="117087" w="95836">
                  <a:moveTo>
                    <a:pt x="0" y="0"/>
                  </a:moveTo>
                  <a:lnTo>
                    <a:pt x="95836" y="0"/>
                  </a:lnTo>
                  <a:lnTo>
                    <a:pt x="95836" y="117087"/>
                  </a:lnTo>
                  <a:lnTo>
                    <a:pt x="0" y="117087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5836" cy="15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2375" y="5614581"/>
            <a:ext cx="363879" cy="444563"/>
            <a:chOff x="0" y="0"/>
            <a:chExt cx="95836" cy="1170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836" cy="117087"/>
            </a:xfrm>
            <a:custGeom>
              <a:avLst/>
              <a:gdLst/>
              <a:ahLst/>
              <a:cxnLst/>
              <a:rect r="r" b="b" t="t" l="l"/>
              <a:pathLst>
                <a:path h="117087" w="95836">
                  <a:moveTo>
                    <a:pt x="0" y="0"/>
                  </a:moveTo>
                  <a:lnTo>
                    <a:pt x="95836" y="0"/>
                  </a:lnTo>
                  <a:lnTo>
                    <a:pt x="95836" y="117087"/>
                  </a:lnTo>
                  <a:lnTo>
                    <a:pt x="0" y="117087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5836" cy="15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22375" y="6687794"/>
            <a:ext cx="363879" cy="444563"/>
            <a:chOff x="0" y="0"/>
            <a:chExt cx="95836" cy="1170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836" cy="117087"/>
            </a:xfrm>
            <a:custGeom>
              <a:avLst/>
              <a:gdLst/>
              <a:ahLst/>
              <a:cxnLst/>
              <a:rect r="r" b="b" t="t" l="l"/>
              <a:pathLst>
                <a:path h="117087" w="95836">
                  <a:moveTo>
                    <a:pt x="0" y="0"/>
                  </a:moveTo>
                  <a:lnTo>
                    <a:pt x="95836" y="0"/>
                  </a:lnTo>
                  <a:lnTo>
                    <a:pt x="95836" y="117087"/>
                  </a:lnTo>
                  <a:lnTo>
                    <a:pt x="0" y="117087"/>
                  </a:lnTo>
                  <a:close/>
                </a:path>
              </a:pathLst>
            </a:custGeom>
            <a:solidFill>
              <a:srgbClr val="EAD3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5836" cy="15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260317"/>
                  </a:solidFill>
                  <a:latin typeface="Catchy Mager"/>
                  <a:ea typeface="Catchy Mager"/>
                  <a:cs typeface="Catchy Mager"/>
                  <a:sym typeface="Catchy Mager"/>
                </a:rPr>
                <a:t>4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148194" y="2032338"/>
            <a:ext cx="735087" cy="735087"/>
          </a:xfrm>
          <a:custGeom>
            <a:avLst/>
            <a:gdLst/>
            <a:ahLst/>
            <a:cxnLst/>
            <a:rect r="r" b="b" t="t" l="l"/>
            <a:pathLst>
              <a:path h="735087" w="735087">
                <a:moveTo>
                  <a:pt x="0" y="0"/>
                </a:moveTo>
                <a:lnTo>
                  <a:pt x="735086" y="0"/>
                </a:lnTo>
                <a:lnTo>
                  <a:pt x="735086" y="735086"/>
                </a:lnTo>
                <a:lnTo>
                  <a:pt x="0" y="735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442823" y="3491324"/>
            <a:ext cx="14371593" cy="35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 b="true">
                <a:solidFill>
                  <a:srgbClr val="26031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SHRM is no longer optional - it’s central to sustainable business success.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42823" y="4568128"/>
            <a:ext cx="14371593" cy="35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 b="true">
                <a:solidFill>
                  <a:srgbClr val="26031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Organizations that align HR with strategy outperform those that treat HR as purely administrative.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42823" y="5457526"/>
            <a:ext cx="14371593" cy="72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 b="true">
                <a:solidFill>
                  <a:srgbClr val="26031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future belongs to companies that treat challenges (AI, remote work, generational shift) as opportunities for reinvention.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2375" y="2075740"/>
            <a:ext cx="6525819" cy="81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2"/>
              </a:lnSpc>
            </a:pPr>
            <a:r>
              <a:rPr lang="en-US" sz="6190" spc="687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CONCLUSIONS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42823" y="6530740"/>
            <a:ext cx="14371593" cy="72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  <a:spcBef>
                <a:spcPct val="0"/>
              </a:spcBef>
            </a:pPr>
            <a:r>
              <a:rPr lang="en-US" sz="2078" b="true">
                <a:solidFill>
                  <a:srgbClr val="26031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Continuous investment in people, technology, and culture will define competitive advantage in the next decade.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C4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6521" y="648590"/>
            <a:ext cx="16636859" cy="8989819"/>
            <a:chOff x="0" y="0"/>
            <a:chExt cx="4381724" cy="2367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17484" y="2946660"/>
            <a:ext cx="1287958" cy="1287958"/>
          </a:xfrm>
          <a:custGeom>
            <a:avLst/>
            <a:gdLst/>
            <a:ahLst/>
            <a:cxnLst/>
            <a:rect r="r" b="b" t="t" l="l"/>
            <a:pathLst>
              <a:path h="1287958" w="1287958">
                <a:moveTo>
                  <a:pt x="0" y="0"/>
                </a:moveTo>
                <a:lnTo>
                  <a:pt x="1287958" y="0"/>
                </a:lnTo>
                <a:lnTo>
                  <a:pt x="1287958" y="1287958"/>
                </a:lnTo>
                <a:lnTo>
                  <a:pt x="0" y="1287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9788" y="4667364"/>
            <a:ext cx="6908424" cy="1637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</a:pPr>
            <a:r>
              <a:rPr lang="en-US" sz="2601" spc="153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SHRM isn’t just managing people - it’s driving the future of the organization.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3293" y="3275052"/>
            <a:ext cx="5689788" cy="95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4"/>
              </a:lnSpc>
            </a:pPr>
            <a:r>
              <a:rPr lang="en-US" sz="7264" spc="806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MESSAGE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5571" y="648590"/>
            <a:ext cx="16636859" cy="8989819"/>
            <a:chOff x="0" y="0"/>
            <a:chExt cx="4381724" cy="2367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81724" cy="2367689"/>
            </a:xfrm>
            <a:custGeom>
              <a:avLst/>
              <a:gdLst/>
              <a:ahLst/>
              <a:cxnLst/>
              <a:rect r="r" b="b" t="t" l="l"/>
              <a:pathLst>
                <a:path h="2367689" w="4381724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724378" y="2357633"/>
            <a:ext cx="2839244" cy="2439857"/>
          </a:xfrm>
          <a:custGeom>
            <a:avLst/>
            <a:gdLst/>
            <a:ahLst/>
            <a:cxnLst/>
            <a:rect r="r" b="b" t="t" l="l"/>
            <a:pathLst>
              <a:path h="2439857" w="2839244">
                <a:moveTo>
                  <a:pt x="0" y="0"/>
                </a:moveTo>
                <a:lnTo>
                  <a:pt x="2839244" y="0"/>
                </a:lnTo>
                <a:lnTo>
                  <a:pt x="2839244" y="2439857"/>
                </a:lnTo>
                <a:lnTo>
                  <a:pt x="0" y="2439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36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4367" y="4940365"/>
            <a:ext cx="9339267" cy="237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9004" spc="2422">
                <a:solidFill>
                  <a:srgbClr val="260317"/>
                </a:solidFill>
                <a:latin typeface="Catchy Mager"/>
                <a:ea typeface="Catchy Mager"/>
                <a:cs typeface="Catchy Mager"/>
                <a:sym typeface="Catchy Mag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DAHJkIfVLFI</dc:identifier>
  <dcterms:modified xsi:type="dcterms:W3CDTF">2011-08-01T06:04:30Z</dcterms:modified>
  <cp:revision>1</cp:revision>
  <dc:title>Presentation Using Provided Template</dc:title>
</cp:coreProperties>
</file>